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4.xml" /><Relationship Id="rId5" Type="http://schemas.openxmlformats.org/officeDocument/2006/relationships/slide" Target="slide5.xml" /><Relationship Id="rId6" Type="http://schemas.openxmlformats.org/officeDocument/2006/relationships/slide" Target="slide6.xml" /><Relationship Id="rId7" Type="http://schemas.openxmlformats.org/officeDocument/2006/relationships/slide" Target="slide7.xml" /><Relationship Id="rId8" Type="http://schemas.openxmlformats.org/officeDocument/2006/relationships/slide" Target="slide7.xml" /><Relationship Id="rId9" Type="http://schemas.openxmlformats.org/officeDocument/2006/relationships/slide" Target="slide8.xml" /><Relationship Id="rId10" Type="http://schemas.openxmlformats.org/officeDocument/2006/relationships/slide" Target="slide9.xml" /><Relationship Id="rId11" Type="http://schemas.openxmlformats.org/officeDocument/2006/relationships/slide" Target="slide10.xml" /><Relationship Id="rId12" Type="http://schemas.openxmlformats.org/officeDocument/2006/relationships/slide" Target="slide10.xml" /><Relationship Id="rId13" Type="http://schemas.openxmlformats.org/officeDocument/2006/relationships/slide" Target="slide10.xml" /><Relationship Id="rId14" Type="http://schemas.openxmlformats.org/officeDocument/2006/relationships/slide" Target="slide11.xml" /><Relationship Id="rId15" Type="http://schemas.openxmlformats.org/officeDocument/2006/relationships/slide" Target="slide12.xml" /><Relationship Id="rId16" Type="http://schemas.openxmlformats.org/officeDocument/2006/relationships/slide" Target="slide13.xml" /><Relationship Id="rId17" Type="http://schemas.openxmlformats.org/officeDocument/2006/relationships/slide" Target="slide13.xml" /><Relationship Id="rId18" Type="http://schemas.openxmlformats.org/officeDocument/2006/relationships/slide" Target="slide13.xml" /><Relationship Id="rId19" Type="http://schemas.openxmlformats.org/officeDocument/2006/relationships/slide" Target="slide13.xml" /><Relationship Id="rId20" Type="http://schemas.openxmlformats.org/officeDocument/2006/relationships/slide" Target="slide14.xml" /><Relationship Id="rId21" Type="http://schemas.openxmlformats.org/officeDocument/2006/relationships/slide" Target="slide15.xml" /><Relationship Id="rId22" Type="http://schemas.openxmlformats.org/officeDocument/2006/relationships/slide" Target="slide15.xml" /><Relationship Id="rId23" Type="http://schemas.openxmlformats.org/officeDocument/2006/relationships/slide" Target="slide16.xml" /><Relationship Id="rId24" Type="http://schemas.openxmlformats.org/officeDocument/2006/relationships/slide" Target="slide16.xml" /><Relationship Id="rId25" Type="http://schemas.openxmlformats.org/officeDocument/2006/relationships/slide" Target="slide18.xml" /><Relationship Id="rId26" Type="http://schemas.openxmlformats.org/officeDocument/2006/relationships/slide" Target="slide20.xml" /><Relationship Id="rId27" Type="http://schemas.openxmlformats.org/officeDocument/2006/relationships/slide" Target="slide2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www.brandenburg-forst.de/bmt/baumartenmischungstabelle.pdf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2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22.xml" /><Relationship Id="rId3" Type="http://schemas.openxmlformats.org/officeDocument/2006/relationships/slide" Target="slide2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Forest Management and Modeling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Max Hachemeister, Aparna Ajayan, Olajide Faneye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Instructions</a:t>
            </a:r>
          </a:p>
          <a:p>
            <a:pPr lvl="0"/>
            <a:r>
              <a:rPr>
                <a:hlinkClick r:id="rId3" action="ppaction://hlinksldjump"/>
              </a:rPr>
              <a:t>Status quo</a:t>
            </a:r>
          </a:p>
          <a:p>
            <a:pPr lvl="1"/>
            <a:r>
              <a:rPr>
                <a:hlinkClick r:id="rId4" action="ppaction://hlinksldjump"/>
              </a:rPr>
              <a:t>Species and Structure</a:t>
            </a:r>
          </a:p>
          <a:p>
            <a:pPr lvl="1"/>
            <a:r>
              <a:rPr>
                <a:hlinkClick r:id="rId5" action="ppaction://hlinksldjump"/>
              </a:rPr>
              <a:t>Climate and nutrition</a:t>
            </a:r>
          </a:p>
          <a:p>
            <a:pPr lvl="1"/>
            <a:r>
              <a:rPr>
                <a:hlinkClick r:id="rId6" action="ppaction://hlinksldjump"/>
              </a:rPr>
              <a:t>Mixture Recommendation</a:t>
            </a:r>
          </a:p>
          <a:p>
            <a:pPr lvl="1"/>
            <a:r>
              <a:rPr>
                <a:hlinkClick r:id="rId7" action="ppaction://hlinksldjump"/>
              </a:rPr>
              <a:t>Stakeholder</a:t>
            </a:r>
          </a:p>
          <a:p>
            <a:pPr lvl="1"/>
            <a:r>
              <a:rPr>
                <a:hlinkClick r:id="rId8" action="ppaction://hlinksldjump"/>
              </a:rPr>
              <a:t>Target mixture</a:t>
            </a:r>
          </a:p>
          <a:p>
            <a:pPr lvl="1"/>
            <a:r>
              <a:rPr>
                <a:hlinkClick r:id="rId9" action="ppaction://hlinksldjump"/>
              </a:rPr>
              <a:t>Ecological characteristics of the tree species</a:t>
            </a:r>
          </a:p>
          <a:p>
            <a:pPr lvl="1"/>
            <a:r>
              <a:rPr>
                <a:hlinkClick r:id="rId10" action="ppaction://hlinksldjump"/>
              </a:rPr>
              <a:t>Species behaviour in monoculture stands</a:t>
            </a:r>
          </a:p>
          <a:p>
            <a:pPr lvl="0"/>
            <a:r>
              <a:rPr>
                <a:hlinkClick r:id="rId11" action="ppaction://hlinksldjump"/>
              </a:rPr>
              <a:t>Modeling</a:t>
            </a:r>
          </a:p>
          <a:p>
            <a:pPr lvl="1"/>
            <a:r>
              <a:rPr>
                <a:hlinkClick r:id="rId12" action="ppaction://hlinksldjump"/>
              </a:rPr>
              <a:t>Timeframe</a:t>
            </a:r>
          </a:p>
          <a:p>
            <a:pPr lvl="1"/>
            <a:r>
              <a:rPr>
                <a:hlinkClick r:id="rId13" action="ppaction://hlinksldjump"/>
              </a:rPr>
              <a:t>Initial tree stand parameters</a:t>
            </a:r>
          </a:p>
          <a:p>
            <a:pPr lvl="1"/>
            <a:r>
              <a:rPr>
                <a:hlinkClick r:id="rId14" action="ppaction://hlinksldjump"/>
              </a:rPr>
              <a:t>Initial tree stand side view</a:t>
            </a:r>
          </a:p>
          <a:p>
            <a:pPr lvl="1"/>
            <a:r>
              <a:rPr>
                <a:hlinkClick r:id="rId15" action="ppaction://hlinksldjump"/>
              </a:rPr>
              <a:t>Initial tree stand top view</a:t>
            </a:r>
          </a:p>
          <a:p>
            <a:pPr lvl="1"/>
            <a:r>
              <a:rPr>
                <a:hlinkClick r:id="rId16" action="ppaction://hlinksldjump"/>
              </a:rPr>
              <a:t>Thinning parameters</a:t>
            </a:r>
          </a:p>
          <a:p>
            <a:pPr lvl="1"/>
            <a:r>
              <a:rPr>
                <a:hlinkClick r:id="rId17" action="ppaction://hlinksldjump"/>
              </a:rPr>
              <a:t>BAS - Business as usual</a:t>
            </a:r>
          </a:p>
          <a:p>
            <a:pPr lvl="1"/>
            <a:r>
              <a:rPr>
                <a:hlinkClick r:id="rId18" action="ppaction://hlinksldjump"/>
              </a:rPr>
              <a:t>SIAFI - Set it and forget it</a:t>
            </a:r>
          </a:p>
          <a:p>
            <a:pPr lvl="2"/>
            <a:r>
              <a:rPr>
                <a:hlinkClick r:id="rId19" action="ppaction://hlinksldjump"/>
              </a:rPr>
              <a:t>Future Crop Trees</a:t>
            </a:r>
          </a:p>
          <a:p>
            <a:pPr lvl="1"/>
            <a:r>
              <a:rPr>
                <a:hlinkClick r:id="rId20" action="ppaction://hlinksldjump"/>
              </a:rPr>
              <a:t>SIAFI - Set it and forget it</a:t>
            </a:r>
          </a:p>
          <a:p>
            <a:pPr lvl="1"/>
            <a:r>
              <a:rPr>
                <a:hlinkClick r:id="rId21" action="ppaction://hlinksldjump"/>
              </a:rPr>
              <a:t>HE - High effort</a:t>
            </a:r>
          </a:p>
          <a:p>
            <a:pPr lvl="2"/>
            <a:r>
              <a:rPr>
                <a:hlinkClick r:id="rId22" action="ppaction://hlinksldjump"/>
              </a:rPr>
              <a:t>Selective thinning</a:t>
            </a:r>
          </a:p>
          <a:p>
            <a:pPr lvl="0"/>
            <a:r>
              <a:rPr>
                <a:hlinkClick r:id="rId23" action="ppaction://hlinksldjump"/>
              </a:rPr>
              <a:t>Outcomes</a:t>
            </a:r>
          </a:p>
          <a:p>
            <a:pPr lvl="1"/>
            <a:r>
              <a:rPr>
                <a:hlinkClick r:id="rId24" action="ppaction://hlinksldjump"/>
              </a:rPr>
              <a:t>BAS</a:t>
            </a:r>
          </a:p>
          <a:p>
            <a:pPr lvl="1"/>
            <a:r>
              <a:rPr>
                <a:hlinkClick r:id="rId25" action="ppaction://hlinksldjump"/>
              </a:rPr>
              <a:t>SIAFI</a:t>
            </a:r>
          </a:p>
          <a:p>
            <a:pPr lvl="1"/>
            <a:r>
              <a:rPr>
                <a:hlinkClick r:id="rId26" action="ppaction://hlinksldjump"/>
              </a:rPr>
              <a:t>HE</a:t>
            </a:r>
          </a:p>
          <a:p>
            <a:pPr lvl="0"/>
            <a:r>
              <a:rPr>
                <a:hlinkClick r:id="rId27" action="ppaction://hlinksldjump"/>
              </a:rPr>
              <a:t>Notes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Every first or second level heading makes a new slide</a:t>
            </a:r>
          </a:p>
          <a:p>
            <a:pPr lvl="0"/>
            <a:r>
              <a:rPr/>
              <a:t>No more than 7 to 8 lines per Slide</a:t>
            </a:r>
          </a:p>
          <a:p>
            <a:pPr lvl="0"/>
            <a:r>
              <a:rPr/>
              <a:t>Insert images</a:t>
            </a:r>
          </a:p>
          <a:p>
            <a:pPr lvl="1"/>
            <a:r>
              <a:rPr/>
              <a:t>upload them into the “images” folder</a:t>
            </a:r>
          </a:p>
          <a:p>
            <a:pPr lvl="1"/>
            <a:r>
              <a:rPr/>
              <a:t>add from there</a:t>
            </a:r>
          </a:p>
          <a:p>
            <a:pPr lvl="0"/>
            <a:r>
              <a:rPr/>
              <a:t>The slides will basically look like this document already does.</a:t>
            </a:r>
          </a:p>
          <a:p>
            <a:pPr lvl="0"/>
            <a:r>
              <a:rPr/>
              <a:t>I will fit it all for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Status quo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Species and Structure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~Age (Years)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Structural unit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Scots Pine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Dominant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European Beech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Second layer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Norway Spruce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Planted Group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Sessile Oak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Trees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and nutrition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Growth District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99.10.19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Tramper Platte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Soil freshness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Medium fresh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Nutrition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Slightly better medium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Mixture Recommendation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Brandenburg Species Mixture Recommendation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Mixture class (%)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Scots pine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&lt;= 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European Beech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&lt;= 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Norway Spruce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Sessile Oak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&lt;= 50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</a:t>
            </a:r>
          </a:p>
          <a:p>
            <a:pPr lvl="0"/>
            <a:r>
              <a:rPr/>
              <a:t>Private owner</a:t>
            </a:r>
          </a:p>
          <a:p>
            <a:pPr lvl="0"/>
            <a:r>
              <a:rPr/>
              <a:t>“Set in and forget it”</a:t>
            </a:r>
          </a:p>
          <a:p>
            <a:pPr lvl="0"/>
            <a:r>
              <a:rPr/>
              <a:t>Passive income</a:t>
            </a:r>
          </a:p>
          <a:p>
            <a:pPr lvl="0"/>
            <a:r>
              <a:rPr/>
              <a:t>Pension fund</a:t>
            </a:r>
          </a:p>
          <a:p>
            <a:pPr lvl="0"/>
            <a:r>
              <a:rPr/>
              <a:t>Resilience and sustainability</a:t>
            </a:r>
          </a:p>
          <a:p>
            <a:pPr lvl="1"/>
            <a:r>
              <a:rPr/>
              <a:t>as long as it’s easy</a:t>
            </a:r>
          </a:p>
          <a:p>
            <a:pPr lvl="1"/>
            <a:r>
              <a:rPr/>
              <a:t>should be reflected in the resale value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Target mixture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Mixture (%)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Scots pine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European Beech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Norway Spruce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Sessile Oak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Ecological characteristics of the tree species</a:t>
            </a:r>
          </a:p>
        </p:txBody>
      </p:sp>
      <p:pic>
        <p:nvPicPr>
          <p:cNvPr descr="images/species_charact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Species behaviour in monoculture stands</a:t>
            </a:r>
          </a:p>
          <a:p>
            <a:pPr lvl="0"/>
            <a:r>
              <a:rPr/>
              <a:t>Scots Pine grows well on poor soils, uniform stands, and have a high drought and pest vulnerability.</a:t>
            </a:r>
          </a:p>
          <a:p>
            <a:pPr lvl="0"/>
            <a:r>
              <a:rPr/>
              <a:t>European Beech dense canopy and quality timber, drought sensitive, limited regeneration on dry sites.</a:t>
            </a:r>
          </a:p>
          <a:p>
            <a:pPr lvl="0"/>
            <a:r>
              <a:rPr/>
              <a:t>Sessile Oak: valuable hardwood, requires light, regeneration difficult, risk from insects. Norway Spruce: fast growth, high yield, prone to storms and bark beetles.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Timeframe</a:t>
            </a:r>
          </a:p>
          <a:p>
            <a:pPr lvl="0" indent="0" marL="0">
              <a:buNone/>
            </a:pPr>
            <a:r>
              <a:rPr/>
              <a:t>50 Years = 11 Periods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Initial tree stand parameters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/ 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 (m²)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Scots pine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European beech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Norway spruce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.6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Sessile oak</a:t>
                      </a:r>
                      <a:r>
                        <a:rPr baseline="30000">
                          <a:hlinkClick r:id="rId2" action="ppaction://hlinksldjump"/>
                        </a:rPr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.2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tree stand side view</a:t>
            </a:r>
          </a:p>
        </p:txBody>
      </p:sp>
      <p:pic>
        <p:nvPicPr>
          <p:cNvPr descr="images/clipboard-31510392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9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tree stand top view</a:t>
            </a:r>
          </a:p>
        </p:txBody>
      </p:sp>
      <p:pic>
        <p:nvPicPr>
          <p:cNvPr descr="images/init_top_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Thinning parameters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BAS - Business as usual</a:t>
            </a:r>
          </a:p>
          <a:p>
            <a:pPr lvl="0"/>
            <a:r>
              <a:rPr/>
              <a:t>No Management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SIAFI - Set it and forget 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Future Crop Trees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Frequency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Thinning periods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Release radius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Max. thinning volume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m³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SIAFI - Set it and forget it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/>
                <a:gridCol w="2146300"/>
                <a:gridCol w="1778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Future Crop Trees </a:t>
                      </a:r>
                      <a:r>
                        <a:rPr baseline="30000">
                          <a:hlinkClick r:id="rId2" action="ppaction://hlinksldjump"/>
                        </a:rPr>
                        <a:t>2</a:t>
                      </a:r>
                      <a:r>
                        <a:rPr/>
                        <a:t> / 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Thinning regime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Scots pine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European beech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heavy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Norway spruce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Sessile oak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direct thinning</a:t>
                      </a:r>
                      <a:r>
                        <a:rPr baseline="30000">
                          <a:hlinkClick r:id="rId3" action="ppaction://hlinksldjump"/>
                        </a:rPr>
                        <a:t>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 - High effort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Selective thinning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Frequency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Thinning periods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 numbers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Max. thinning volume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thinning regimes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SIAFI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it_top_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Initial</a:t>
            </a:r>
          </a:p>
        </p:txBody>
      </p:sp>
      <p:pic>
        <p:nvPicPr>
          <p:cNvPr descr="images/sim_bas_top_crop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BAS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SIAFI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it_top_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Initial</a:t>
            </a:r>
          </a:p>
        </p:txBody>
      </p:sp>
      <p:pic>
        <p:nvPicPr>
          <p:cNvPr descr="images/sim_siafi_top_crop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SIAFI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init_top_cro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Initial</a:t>
            </a:r>
          </a:p>
        </p:txBody>
      </p:sp>
      <p:pic>
        <p:nvPicPr>
          <p:cNvPr descr="images/sim_he_top_crop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sz="1800"/>
                  <a:t>1.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g</m:t>
                        </m:r>
                      </m:sub>
                    </m:sSub>
                  </m:oMath>
                </a14:m>
                <a:r>
                  <a:rPr sz="1800"/>
                  <a:t> was set manually to </a:t>
                </a:r>
                <a14:m>
                  <m:oMath xmlns:m="http://schemas.openxmlformats.org/officeDocument/2006/math">
                    <m:r>
                      <m:t>12</m:t>
                    </m:r>
                    <m:r>
                      <m:t> </m:t>
                    </m:r>
                    <m:r>
                      <m:t>c</m:t>
                    </m:r>
                    <m:r>
                      <m:t>m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sz="1800"/>
                  <a:t>2. </a:t>
                </a: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t> 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Future trees monoculture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×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nor/>
                                <m:sty m:val="p"/>
                              </m:rPr>
                              <m:t>Target proportion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 sz="1800"/>
                  <a:t> // </a:t>
                </a:r>
                <a14:m>
                  <m:oMath xmlns:m="http://schemas.openxmlformats.org/officeDocument/2006/math"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r>
                      <m:t>p</m:t>
                    </m:r>
                    <m:r>
                      <m:t>e</m:t>
                    </m:r>
                    <m:r>
                      <m:t>c</m:t>
                    </m:r>
                    <m:r>
                      <m:t>i</m:t>
                    </m:r>
                    <m:r>
                      <m:t>e</m:t>
                    </m:r>
                    <m:r>
                      <m:t>s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sz="1800"/>
                  <a:t>3. Summand = 0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Forest Management and Modeling</dc:title>
  <dc:creator>Max Hachemeister, Aparna Ajayan, Olajide Faneye</dc:creator>
  <cp:keywords/>
  <dcterms:created xsi:type="dcterms:W3CDTF">2025-11-14T05:50:17Z</dcterms:created>
  <dcterms:modified xsi:type="dcterms:W3CDTF">2025-11-14T05:50:17Z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